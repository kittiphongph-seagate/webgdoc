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9B4FA"/>
                </a:solidFill>
                <a:latin typeface="Outfit"/>
              </a:defRPr>
            </a:pPr>
            <a:r>
              <a:t>🚀 GitLab &amp; Git Starter Guide</a:t>
            </a:r>
          </a:p>
          <a:p>
            <a:pPr algn="ctr">
              <a:spcBef>
                <a:spcPts val="2000"/>
              </a:spcBef>
              <a:defRPr sz="2400">
                <a:solidFill>
                  <a:srgbClr val="A6E3A1"/>
                </a:solidFill>
                <a:latin typeface="Outfit"/>
              </a:defRPr>
            </a:pPr>
            <a:r>
              <a:t>SSH + HTTPS Setup &amp; Daily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Outfit"/>
              </a:defRPr>
            </a:pPr>
            <a:r>
              <a:t>🎯 Scenario / เป้าหมาย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A6E3A1"/>
                </a:solidFill>
                <a:latin typeface="Outfit"/>
              </a:defRPr>
            </a:pPr>
            <a:r>
              <a:t>ความต้องการพื้นฐานในการเริ่มต้น:</a:t>
            </a:r>
          </a:p>
          <a:p>
            <a:pPr>
              <a:spcAft>
                <a:spcPts val="1000"/>
              </a:spcAft>
              <a:defRPr sz="2000" b="0">
                <a:solidFill>
                  <a:srgbClr val="CDD6F4"/>
                </a:solidFill>
                <a:latin typeface="Outfit"/>
              </a:defRPr>
            </a:pPr>
            <a:r>
              <a:t>•  มี Project อยู่ในเครื่องคอมพิวเตอร์ของคุณแล้ว</a:t>
            </a:r>
          </a:p>
          <a:p>
            <a:pPr>
              <a:spcAft>
                <a:spcPts val="1000"/>
              </a:spcAft>
              <a:defRPr sz="2000" b="0">
                <a:solidFill>
                  <a:srgbClr val="CDD6F4"/>
                </a:solidFill>
                <a:latin typeface="Outfit"/>
              </a:defRPr>
            </a:pPr>
            <a:r>
              <a:t>•  ต้องการนำขึ้น GitLab Repository ที่สร้างใหม่และมีไฟล์ README อยู่แล้ว</a:t>
            </a:r>
          </a:p>
          <a:p>
            <a:pPr>
              <a:spcAft>
                <a:spcPts val="1000"/>
              </a:spcAft>
              <a:defRPr sz="2000" b="0">
                <a:solidFill>
                  <a:srgbClr val="CDD6F4"/>
                </a:solidFill>
                <a:latin typeface="Outfit"/>
              </a:defRPr>
            </a:pPr>
            <a:r>
              <a:t>•  รองรับการเชื่อมต่อและยืนยันตัวตนได้ทั้งรูปแบบ SSH และ HTTPS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Outfit"/>
              </a:defRPr>
            </a:pPr>
            <a:r>
              <a:t>✅ PHASE 1: Setup Git (ครั้งแรก)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DD6F4"/>
                </a:solidFill>
                <a:latin typeface="Outfit"/>
              </a:defRPr>
            </a:pPr>
            <a:r>
              <a:t>กำหนดชื่อและอีเมลผู้ใช้งาน (Global Config) สำหรับบันทึกประวัติการ Commit: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0698480" cy="146304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38BA8"/>
                </a:solidFill>
                <a:latin typeface="Courier New"/>
              </a:defRPr>
            </a:pPr>
            <a:r>
              <a:t>git config --global user.name "Your Name"</a:t>
            </a:r>
            <a:br/>
            <a:r>
              <a:t>git config --global user.email "your.email@company.com"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CDD6F4"/>
                </a:solidFill>
                <a:latin typeface="Outfit"/>
              </a:defRPr>
            </a:pPr>
            <a:r>
              <a:t>ตรวจสอบการตั้งค่า: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98480" cy="91440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38BA8"/>
                </a:solidFill>
                <a:latin typeface="Courier New"/>
              </a:defRPr>
            </a:pPr>
            <a:r>
              <a:t>git config --global --list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Outfit"/>
              </a:defRPr>
            </a:pPr>
            <a:r>
              <a:t>✅ PHASE 2: Setup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0">
                <a:solidFill>
                  <a:srgbClr val="A6E3A1"/>
                </a:solidFill>
                <a:latin typeface="Outfit"/>
              </a:defRPr>
            </a:pPr>
            <a:r>
              <a:t>เลือกช่องทางในการเชื่อมต่อและยืนยันตัวตนกับ GitLab Server: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5120640" cy="384048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89B4FA"/>
                </a:solidFill>
                <a:latin typeface="Outfit"/>
              </a:defRPr>
            </a:pPr>
            <a:r>
              <a:t>วิธีที่ 1: SSH (แนะนำ ⭐)</a:t>
            </a:r>
          </a:p>
          <a:p>
            <a:pPr>
              <a:spcAft>
                <a:spcPts val="1000"/>
              </a:spcAft>
              <a:defRPr sz="1800">
                <a:solidFill>
                  <a:srgbClr val="CDD6F4"/>
                </a:solidFill>
                <a:latin typeface="Outfit"/>
              </a:defRPr>
            </a:pPr>
            <a:r>
              <a:t>✔ มีความปลอดภัยสูงที่สุด</a:t>
            </a:r>
          </a:p>
          <a:p>
            <a:pPr>
              <a:spcAft>
                <a:spcPts val="1000"/>
              </a:spcAft>
              <a:defRPr sz="1800">
                <a:solidFill>
                  <a:srgbClr val="CDD6F4"/>
                </a:solidFill>
                <a:latin typeface="Outfit"/>
              </a:defRPr>
            </a:pPr>
            <a:r>
              <a:t>✔ ตั้งค่าครั้งเดียวใช้งานได้ยาวนาน</a:t>
            </a:r>
          </a:p>
          <a:p>
            <a:pPr>
              <a:spcAft>
                <a:spcPts val="1000"/>
              </a:spcAft>
              <a:defRPr sz="1800">
                <a:solidFill>
                  <a:srgbClr val="CDD6F4"/>
                </a:solidFill>
                <a:latin typeface="Outfit"/>
              </a:defRPr>
            </a:pPr>
            <a:r>
              <a:t>✔ ไม่ต้องกรอก username/password บ่อยๆ</a:t>
            </a:r>
          </a:p>
          <a:p>
            <a:pPr>
              <a:spcAft>
                <a:spcPts val="1000"/>
              </a:spcAft>
              <a:defRPr sz="1800">
                <a:solidFill>
                  <a:srgbClr val="CDD6F4"/>
                </a:solidFill>
                <a:latin typeface="Outfit"/>
              </a:defRPr>
            </a:pPr>
            <a:r>
              <a:t>✔ เหมาะกับการทำระบบอัตโนมัติ (CI/CD)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86000"/>
            <a:ext cx="5120640" cy="384048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89B4FA"/>
                </a:solidFill>
                <a:latin typeface="Outfit"/>
              </a:defRPr>
            </a:pPr>
            <a:r>
              <a:t>วิธีที่ 2: HTTPS</a:t>
            </a:r>
          </a:p>
          <a:p>
            <a:pPr>
              <a:spcAft>
                <a:spcPts val="1000"/>
              </a:spcAft>
              <a:defRPr sz="1800">
                <a:solidFill>
                  <a:srgbClr val="CDD6F4"/>
                </a:solidFill>
                <a:latin typeface="Outfit"/>
              </a:defRPr>
            </a:pPr>
            <a:r>
              <a:t>✔ ตั้งค่าง่าย ไม่ยุ่งยากสำหรับมือใหม่</a:t>
            </a:r>
          </a:p>
          <a:p>
            <a:pPr>
              <a:spcAft>
                <a:spcPts val="1000"/>
              </a:spcAft>
              <a:defRPr sz="1800">
                <a:solidFill>
                  <a:srgbClr val="CDD6F4"/>
                </a:solidFill>
                <a:latin typeface="Outfit"/>
              </a:defRPr>
            </a:pPr>
            <a:r>
              <a:t>✔ ต้องตั้งค่า Credential Helper ช่วยจำ</a:t>
            </a:r>
          </a:p>
          <a:p>
            <a:pPr>
              <a:spcAft>
                <a:spcPts val="1000"/>
              </a:spcAft>
              <a:defRPr sz="1800">
                <a:solidFill>
                  <a:srgbClr val="CDD6F4"/>
                </a:solidFill>
                <a:latin typeface="Outfit"/>
              </a:defRPr>
            </a:pPr>
            <a:r>
              <a:t>✔ หากไม่ตั้งค่า ต้องคีย์รหัสผ่านทุกรอบ</a:t>
            </a:r>
          </a:p>
          <a:p>
            <a:pPr>
              <a:spcAft>
                <a:spcPts val="1000"/>
              </a:spcAft>
              <a:defRPr sz="1800">
                <a:solidFill>
                  <a:srgbClr val="CDD6F4"/>
                </a:solidFill>
                <a:latin typeface="Outfit"/>
              </a:defRPr>
            </a:pPr>
            <a:r>
              <a:t>⚠ ต้องระวังเรื่องความปลอดภัยในการพิมพ์รหัสผ่าน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Outfit"/>
              </a:defRPr>
            </a:pPr>
            <a:r>
              <a:t>🔑 วิธีที่ 1: SSH Setup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A6E3A1"/>
                </a:solidFill>
                <a:latin typeface="Outfit"/>
              </a:defRPr>
            </a:pPr>
            <a:r>
              <a:t>1. สร้าง SSH Key ด้วยอัลกอริทึม Ed25519 (แนะนำและปลอดภัยสุด):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38BA8"/>
                </a:solidFill>
                <a:latin typeface="Courier New"/>
              </a:defRPr>
            </a:pPr>
            <a:r>
              <a:t>ssh-keygen -t ed25519 -C "your.email@company.com"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A6E3A1"/>
                </a:solidFill>
                <a:latin typeface="Outfit"/>
              </a:defRPr>
            </a:pPr>
            <a:r>
              <a:t>2. แสดงค่าและทำการคัดลอก Public Key เพื่อนำไปใส่ในระบบ GitLab: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118872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38BA8"/>
                </a:solidFill>
                <a:latin typeface="Courier New"/>
              </a:defRPr>
            </a:pPr>
            <a:r>
              <a:t>cat ~/.ssh/id_ed25519.pub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CDD6F4"/>
                </a:solidFill>
                <a:latin typeface="Outfit"/>
              </a:defRPr>
            </a:pPr>
            <a:r>
              <a:t>*ข้อสังเกต: คีย์จะเริ่มต้นด้วย ssh-ed25519 และลงท้ายด้วยอีเมลของคุณ*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Outfit"/>
              </a:defRPr>
            </a:pPr>
            <a:r>
              <a:t>🔑 วิธีที่ 1: SSH Setup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A6E3A1"/>
                </a:solidFill>
                <a:latin typeface="Outfit"/>
              </a:defRPr>
            </a:pPr>
            <a:r>
              <a:t>3. เพิ่มคีย์เข้าสู่ระบบ GitLab:</a:t>
            </a:r>
          </a:p>
          <a:p>
            <a:pPr>
              <a:spcAft>
                <a:spcPts val="500"/>
              </a:spcAft>
              <a:defRPr sz="1800" b="0">
                <a:solidFill>
                  <a:srgbClr val="CDD6F4"/>
                </a:solidFill>
                <a:latin typeface="Outfit"/>
              </a:defRPr>
            </a:pPr>
            <a:r>
              <a:t>   •  ล็อกอินเข้าสู่ GitLab ➡️ คลิกที่รูปโปรไฟล์มุมขวาบน ➡️ เลือก User Settings</a:t>
            </a:r>
          </a:p>
          <a:p>
            <a:pPr>
              <a:spcAft>
                <a:spcPts val="500"/>
              </a:spcAft>
              <a:defRPr sz="1800" b="0">
                <a:solidFill>
                  <a:srgbClr val="CDD6F4"/>
                </a:solidFill>
                <a:latin typeface="Outfit"/>
              </a:defRPr>
            </a:pPr>
            <a:r>
              <a:t>   •  เลือกเมนู SSH Keys ทางแถบซ้ายมือ ➡️ คลิกปุ่ม Add new key</a:t>
            </a:r>
          </a:p>
          <a:p>
            <a:pPr>
              <a:spcAft>
                <a:spcPts val="1500"/>
              </a:spcAft>
              <a:defRPr sz="1800" b="0">
                <a:solidFill>
                  <a:srgbClr val="CDD6F4"/>
                </a:solidFill>
                <a:latin typeface="Outfit"/>
              </a:defRPr>
            </a:pPr>
            <a:r>
              <a:t>   •  วาง Public Key ที่คัดลอกมาลงในช่อง Key ➡️ กด Add key เพื่อบันทึก</a:t>
            </a:r>
          </a:p>
          <a:p>
            <a:pPr>
              <a:spcAft>
                <a:spcPts val="500"/>
              </a:spcAft>
              <a:defRPr sz="2000" b="1">
                <a:solidFill>
                  <a:srgbClr val="A6E3A1"/>
                </a:solidFill>
                <a:latin typeface="Outfit"/>
              </a:defRPr>
            </a:pPr>
            <a:r>
              <a:t>4. ทดสอบความสำเร็จของการเชื่อมต่อ: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06240"/>
            <a:ext cx="10698480" cy="109728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97679"/>
            <a:ext cx="10332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38BA8"/>
                </a:solidFill>
                <a:latin typeface="Courier New"/>
              </a:defRPr>
            </a:pPr>
            <a:r>
              <a:t>ssh -T git@seagit.okla.seagate.com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CDD6F4"/>
                </a:solidFill>
                <a:latin typeface="Outfit"/>
              </a:defRPr>
            </a:pPr>
            <a:r>
              <a:t>*หากสำเร็จจะขึ้นข้อความ Welcome to GitLab, @username!*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Outfit"/>
              </a:defRPr>
            </a:pPr>
            <a:r>
              <a:t>🔒 วิธีที่ 2: HTTPS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A6E3A1"/>
                </a:solidFill>
                <a:latin typeface="Outfit"/>
              </a:defRPr>
            </a:pPr>
            <a:r>
              <a:t>เปิดใช้งาน Git Credential Manager เพื่อหลีกเลี่ยงการใส่รหัสผ่านซ้ำๆ: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0698480" cy="146304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38BA8"/>
                </a:solidFill>
                <a:latin typeface="Courier New"/>
              </a:defRPr>
            </a:pPr>
            <a:r>
              <a:t>git config --global credential.helper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CDD6F4"/>
                </a:solidFill>
                <a:latin typeface="Outfit"/>
              </a:defRPr>
            </a:pPr>
            <a:r>
              <a:t>จุดเด่นของการตั้งค่า:</a:t>
            </a:r>
          </a:p>
          <a:p>
            <a:pPr>
              <a:spcAft>
                <a:spcPts val="500"/>
              </a:spcAft>
              <a:defRPr sz="1800" b="0">
                <a:solidFill>
                  <a:srgbClr val="CDD6F4"/>
                </a:solidFill>
                <a:latin typeface="Outfit"/>
              </a:defRPr>
            </a:pPr>
            <a:r>
              <a:t>✔  ระบบจะช่วยจำ Username และ Password ใน Windows Credentials</a:t>
            </a:r>
          </a:p>
          <a:p>
            <a:pPr>
              <a:spcAft>
                <a:spcPts val="500"/>
              </a:spcAft>
              <a:defRPr sz="1800" b="0">
                <a:solidFill>
                  <a:srgbClr val="CDD6F4"/>
                </a:solidFill>
                <a:latin typeface="Outfit"/>
              </a:defRPr>
            </a:pPr>
            <a:r>
              <a:t>✔  ไม่ต้องระบุตัวตนใหม่ในทุกๆ ครั้งที่มีการสั่ง Push หรือ Pull โค้ด</a:t>
            </a:r>
          </a:p>
          <a:p>
            <a:pPr>
              <a:spcAft>
                <a:spcPts val="500"/>
              </a:spcAft>
              <a:defRPr sz="1800" b="0">
                <a:solidFill>
                  <a:srgbClr val="CDD6F4"/>
                </a:solidFill>
                <a:latin typeface="Outfit"/>
              </a:defRPr>
            </a:pPr>
            <a:r>
              <a:t>✔  ง่ายต่อการเริ่มต้นใช้งานและสลับสิทธิ์การเข้าถึง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Outfit"/>
              </a:defRPr>
            </a:pPr>
            <a:r>
              <a:t>✅ PHASE 3 &amp; 4: Setup &amp; Link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A6E3A1"/>
                </a:solidFill>
                <a:latin typeface="Outfit"/>
              </a:defRPr>
            </a:pPr>
            <a:r>
              <a:t>1. เริ่มต้นระบบ Git ภายในโฟลเดอร์ของโปรเจกต์: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698480" cy="118872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38BA8"/>
                </a:solidFill>
                <a:latin typeface="Courier New"/>
              </a:defRPr>
            </a:pPr>
            <a:r>
              <a:t>cd C:/Users/your-folder/project</a:t>
            </a:r>
            <a:br/>
            <a:r>
              <a:t>git init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A6E3A1"/>
                </a:solidFill>
                <a:latin typeface="Outfit"/>
              </a:defRPr>
            </a:pPr>
            <a:r>
              <a:t>2. เพิ่ม Remote Link ไปยัง GitLab (เลือกหนึ่งในสองวิธี):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698480" cy="219456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32719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38BA8"/>
                </a:solidFill>
                <a:latin typeface="Courier New"/>
              </a:defRPr>
            </a:pPr>
            <a:r>
              <a:t># 🔹 ทางเลือก A: เชื่อมต่อผ่าน SSH (แนะนำ)</a:t>
            </a:r>
            <a:br/>
            <a:r>
              <a:t>git remote add origin git@seagit.okla.seagate.com:web-gallery/webgdoc.git</a:t>
            </a:r>
            <a:br/>
            <a:br/>
            <a:r>
              <a:t># 🔹 ทางเลือก B: เชื่อมต่อผ่าน HTTPS</a:t>
            </a:r>
            <a:br/>
            <a:r>
              <a:t>git remote add origin https://seagit.okla.seagate.com/web-gallery/webgdoc.git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Outfit"/>
              </a:defRPr>
            </a:pPr>
            <a:r>
              <a:t>✅ PHASE 5: Sync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0">
                <a:solidFill>
                  <a:srgbClr val="CDD6F4"/>
                </a:solidFill>
                <a:latin typeface="Outfit"/>
              </a:defRPr>
            </a:pPr>
            <a:r>
              <a:t>ดึงประวัติการ Commit และไฟล์ README ดั้งเดิมบน GitLab ลงมายังเครื่องคอมพิวเตอร์ก่อน: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10698480" cy="146304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38BA8"/>
                </a:solidFill>
                <a:latin typeface="Courier New"/>
              </a:defRPr>
            </a:pPr>
            <a:r>
              <a:t>git pull origin main --allow-unrelated-histories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A6E3A1"/>
                </a:solidFill>
                <a:latin typeface="Outfit"/>
              </a:defRPr>
            </a:pPr>
            <a:r>
              <a:t>ข้อควรจำ:</a:t>
            </a:r>
          </a:p>
          <a:p>
            <a:pPr>
              <a:spcAft>
                <a:spcPts val="1000"/>
              </a:spcAft>
              <a:defRPr sz="1800" b="0">
                <a:solidFill>
                  <a:srgbClr val="CDD6F4"/>
                </a:solidFill>
                <a:latin typeface="Outfit"/>
              </a:defRPr>
            </a:pPr>
            <a:r>
              <a:t>ต้องใส่แฟล็ก --allow-unrelated-histories เสมอในการดึงข้อมูลครั้งแรก เพื่ออนุญาตให้ Git นำระบบไฟล์ของทั้งสองแหล่ง (เครื่องตัวเองและคลาวด์) ที่ไม่เคยเชื่อมโยงกันมารวมกันได้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Outfit"/>
              </a:defRPr>
            </a:pPr>
            <a:r>
              <a:t>✅ PHASE 6: Commit &amp; Push (ครั้งแรก)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DD6F4"/>
                </a:solidFill>
                <a:latin typeface="Outfit"/>
              </a:defRPr>
            </a:pPr>
            <a:r>
              <a:t>จัดเตรียมไฟล์ บันทึกการเปลี่ยนแปลง และอัปโหลดไฟล์ขึ้นสู่ GitLab Main Branch: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698480" cy="384048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1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38BA8"/>
                </a:solidFill>
                <a:latin typeface="Courier New"/>
              </a:defRPr>
            </a:pPr>
            <a:r>
              <a:t># 1. แอดไฟล์และโฟลเดอร์ทั่งหมดลงใน Staging Area</a:t>
            </a:r>
            <a:br/>
            <a:r>
              <a:t>git add .</a:t>
            </a:r>
            <a:br/>
            <a:br/>
            <a:r>
              <a:t># 2. บันทึกและระบุข้อความอธิบายการเปลี่ยนแปลง (Commit)</a:t>
            </a:r>
            <a:br/>
            <a:r>
              <a:t>git commit -m "initial commit"</a:t>
            </a:r>
            <a:br/>
            <a:br/>
            <a:r>
              <a:t># 3. ตั้งชื่อ Branch หลักให้เป็น 'main' และส่งขึ้น GitLab (อ้างอิงต้นทาง -u)</a:t>
            </a:r>
            <a:br/>
            <a:r>
              <a:t>git branch -M main</a:t>
            </a:r>
            <a:br/>
            <a:r>
              <a:t>git push -u origin main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Outfit"/>
              </a:defRPr>
            </a:pPr>
            <a:r>
              <a:t>✅ PHASE 7: Daily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0">
                <a:solidFill>
                  <a:srgbClr val="A6E3A1"/>
                </a:solidFill>
                <a:latin typeface="Outfit"/>
              </a:defRPr>
            </a:pPr>
            <a:r>
              <a:t>สามขั้นตอนการทำงานปกติในทุกวันสำหรับการเขียนโค้ดและแบคอัพงาน: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0698480" cy="347472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19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38BA8"/>
                </a:solidFill>
                <a:latin typeface="Courier New"/>
              </a:defRPr>
            </a:pPr>
            <a:r>
              <a:t># 1. เพิ่มไฟล์ที่แก้ไขและเพิ่มใหม่ทั้งหมด</a:t>
            </a:r>
            <a:br/>
            <a:r>
              <a:t>git add .</a:t>
            </a:r>
            <a:br/>
            <a:br/>
            <a:r>
              <a:t># 2. บันทึกพร้อมระบุรายละเอียดที่อัปเดต</a:t>
            </a:r>
            <a:br/>
            <a:r>
              <a:t>git commit -m "update: ปรับปรุงระบบหลังบ้านและแก้ไขหน้า UI"</a:t>
            </a:r>
            <a:br/>
            <a:br/>
            <a:r>
              <a:t># 3. ส่งข้อมูลล่าสุดขึ้น GitLab เซิร์ฟเวอร์</a:t>
            </a:r>
            <a:br/>
            <a:r>
              <a:t>git push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Outfit"/>
              </a:defRPr>
            </a:pPr>
            <a:r>
              <a:t>❗ Error ที่พบบ่อย &amp; วิธีแก้ไข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89B4FA"/>
                </a:solidFill>
                <a:latin typeface="Outfit"/>
              </a:defRPr>
            </a:pPr>
            <a:r>
              <a:t>1. ปัญหา: 'no upstream branch' เมื่อสั่ง 'git push'</a:t>
            </a:r>
          </a:p>
          <a:p>
            <a:pPr>
              <a:spcAft>
                <a:spcPts val="500"/>
              </a:spcAft>
              <a:defRPr sz="1600" b="0">
                <a:solidFill>
                  <a:srgbClr val="CDD6F4"/>
                </a:solidFill>
                <a:latin typeface="Outfit"/>
              </a:defRPr>
            </a:pPr>
            <a:r>
              <a:t>สาเหตุ: ยังไม่ได้บอก Git ว่ากิ่งของเครื่องตัวเองจะคู่กับกิ่งไหนบน Server</a:t>
            </a:r>
          </a:p>
          <a:p>
            <a:pPr>
              <a:spcAft>
                <a:spcPts val="500"/>
              </a:spcAft>
              <a:defRPr sz="1600" b="0">
                <a:solidFill>
                  <a:srgbClr val="CDD6F4"/>
                </a:solidFill>
                <a:latin typeface="Outfit"/>
              </a:defRPr>
            </a:pPr>
            <a:r>
              <a:t>วิธีแก้ไข: ใช้คำสั่งบอกระบบปลายทางด้วยแฟล็ก -u ในครั้งแรก: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10698480" cy="91440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38BA8"/>
                </a:solidFill>
                <a:latin typeface="Courier New"/>
              </a:defRPr>
            </a:pPr>
            <a:r>
              <a:t>git push -u origin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89B4FA"/>
                </a:solidFill>
                <a:latin typeface="Outfit"/>
              </a:defRPr>
            </a:pPr>
            <a:r>
              <a:t>2. ปัญหา: SSL certificate problem (เมื่อใช้งานผ่าน HTTPS)</a:t>
            </a:r>
          </a:p>
          <a:p>
            <a:pPr>
              <a:spcAft>
                <a:spcPts val="500"/>
              </a:spcAft>
              <a:defRPr sz="1600" b="0">
                <a:solidFill>
                  <a:srgbClr val="CDD6F4"/>
                </a:solidFill>
                <a:latin typeface="Outfit"/>
              </a:defRPr>
            </a:pPr>
            <a:r>
              <a:t>สาเหตุ: ใบรับรองความปลอดภัยภายในบริษัทมีปัญหาไม่เข้าพวกกับระบบความปลอดภัย Git</a:t>
            </a:r>
          </a:p>
          <a:p>
            <a:pPr>
              <a:spcAft>
                <a:spcPts val="500"/>
              </a:spcAft>
              <a:defRPr sz="1600" b="0">
                <a:solidFill>
                  <a:srgbClr val="CDD6F4"/>
                </a:solidFill>
                <a:latin typeface="Outfit"/>
              </a:defRPr>
            </a:pPr>
            <a:r>
              <a:t>วิธีแก้ไข: สั่งปิดการตรวจสอบใบรับรองความปลอดภัยของเครื่องตัวเองชั่วคราว: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698480" cy="91440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332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38BA8"/>
                </a:solidFill>
                <a:latin typeface="Courier New"/>
              </a:defRPr>
            </a:pPr>
            <a:r>
              <a:t>git config --global http.sslverify false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Outfit"/>
              </a:defRPr>
            </a:pPr>
            <a:r>
              <a:t>❗ Error ที่พบบ่อย &amp; วิธีแก้ไข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89B4FA"/>
                </a:solidFill>
                <a:latin typeface="Outfit"/>
              </a:defRPr>
            </a:pPr>
            <a:r>
              <a:t>3. ปัญหา: Permission denied (publickey) เมื่อใช้งานผ่าน SSH</a:t>
            </a:r>
          </a:p>
          <a:p>
            <a:pPr>
              <a:spcAft>
                <a:spcPts val="1000"/>
              </a:spcAft>
              <a:defRPr sz="1800" b="1">
                <a:solidFill>
                  <a:srgbClr val="CDD6F4"/>
                </a:solidFill>
                <a:latin typeface="Outfit"/>
              </a:defRPr>
            </a:pPr>
            <a:r>
              <a:t>สาเหตุหลักที่อาจเกิดขึ้น:</a:t>
            </a:r>
          </a:p>
          <a:p>
            <a:pPr>
              <a:spcAft>
                <a:spcPts val="500"/>
              </a:spcAft>
              <a:defRPr sz="1800" b="0">
                <a:solidFill>
                  <a:srgbClr val="CDD6F4"/>
                </a:solidFill>
                <a:latin typeface="Outfit"/>
              </a:defRPr>
            </a:pPr>
            <a:r>
              <a:t>•  คีย์ SSH ในเครื่องยังไม่ถูกสร้าง หรือถูกบันทึกผิดตำแหน่ง</a:t>
            </a:r>
          </a:p>
          <a:p>
            <a:pPr>
              <a:spcAft>
                <a:spcPts val="500"/>
              </a:spcAft>
              <a:defRPr sz="1800" b="0">
                <a:solidFill>
                  <a:srgbClr val="CDD6F4"/>
                </a:solidFill>
                <a:latin typeface="Outfit"/>
              </a:defRPr>
            </a:pPr>
            <a:r>
              <a:t>•  ยังไม่ได้เพิ่ม Public Key (`id_ed25519.pub`) เข้าไปใน Profile settings บนหน้าเว็บ GitLab</a:t>
            </a:r>
          </a:p>
          <a:p>
            <a:pPr>
              <a:spcAft>
                <a:spcPts val="1500"/>
              </a:spcAft>
              <a:defRPr sz="1800" b="0">
                <a:solidFill>
                  <a:srgbClr val="CDD6F4"/>
                </a:solidFill>
                <a:latin typeface="Outfit"/>
              </a:defRPr>
            </a:pPr>
            <a:r>
              <a:t>•  เซิร์ฟเวอร์ปฏิเสธการเชื่อมต่อจากคีย์ดังกล่าว</a:t>
            </a:r>
          </a:p>
          <a:p>
            <a:pPr>
              <a:spcAft>
                <a:spcPts val="500"/>
              </a:spcAft>
              <a:defRPr sz="1800" b="1">
                <a:solidFill>
                  <a:srgbClr val="A6E3A1"/>
                </a:solidFill>
                <a:latin typeface="Outfit"/>
              </a:defRPr>
            </a:pPr>
            <a:r>
              <a:t>วิธีตรวจสอบเบื้องต้นเพื่อดูรายละเอียดการเชื่อมต่อ: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54879"/>
            <a:ext cx="10332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38BA8"/>
                </a:solidFill>
                <a:latin typeface="Courier New"/>
              </a:defRPr>
            </a:pPr>
            <a:r>
              <a:t>ssh -T git@seagit.okla.seagate.com</a:t>
            </a:r>
            <a:br/>
            <a:r>
              <a:t># หรือเพิ่มรายละเอียดประวัติการตรวจสอบเพื่อเช็คปัญหาลึกๆ:</a:t>
            </a:r>
            <a:br/>
            <a:r>
              <a:t>ssh -Tv git@seagit.okla.seagate.com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Outfit"/>
              </a:defRPr>
            </a:pPr>
            <a:r>
              <a:t>🎯 Quick Start: สรุปขั้นตอนเร่งด่วน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A6E3A1"/>
                </a:solidFill>
                <a:latin typeface="Outfit"/>
              </a:defRPr>
            </a:pPr>
            <a:r>
              <a:t>⚡ แบบ SSH (แนะนำ)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38BA8"/>
                </a:solidFill>
                <a:latin typeface="Courier New"/>
              </a:defRPr>
            </a:pPr>
            <a:r>
              <a:t>git init</a:t>
            </a:r>
            <a:br/>
            <a:r>
              <a:t>git remote add origin git@seagit.okla.seagate.com:web-gallery/webgdoc.git</a:t>
            </a:r>
            <a:br/>
            <a:br/>
            <a:r>
              <a:t>git pull origin main --allow-unrelated-histories</a:t>
            </a:r>
            <a:br/>
            <a:br/>
            <a:r>
              <a:t>git add .</a:t>
            </a:r>
            <a:br/>
            <a:r>
              <a:t>git commit -m "init"</a:t>
            </a:r>
            <a:br/>
            <a:br/>
            <a:r>
              <a:t>git branch -M main</a:t>
            </a:r>
            <a:br/>
            <a:r>
              <a:t>git push -u origin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89B4FA"/>
                </a:solidFill>
                <a:latin typeface="Outfit"/>
              </a:defRPr>
            </a:pPr>
            <a:r>
              <a:t>⚡ แบบ HTTPS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94560"/>
            <a:ext cx="5120640" cy="3931920"/>
          </a:xfrm>
          <a:prstGeom prst="roundRect">
            <a:avLst/>
          </a:prstGeom>
          <a:solidFill>
            <a:srgbClr val="313244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38BA8"/>
                </a:solidFill>
                <a:latin typeface="Courier New"/>
              </a:defRPr>
            </a:pPr>
            <a:r>
              <a:t>git init</a:t>
            </a:r>
            <a:br/>
            <a:r>
              <a:t>git remote add origin https://seagit.okla.seagate.com/web-gallery/webgdoc.git</a:t>
            </a:r>
            <a:br/>
            <a:r>
              <a:t>git config --global credential.helper manager</a:t>
            </a:r>
            <a:br/>
            <a:br/>
            <a:r>
              <a:t>git pull origin main --allow-unrelated-histories</a:t>
            </a:r>
            <a:br/>
            <a:br/>
            <a:r>
              <a:t>git add .</a:t>
            </a:r>
            <a:br/>
            <a:r>
              <a:t>git commit -m "init"</a:t>
            </a:r>
            <a:br/>
            <a:br/>
            <a:r>
              <a:t>git branch -M main</a:t>
            </a:r>
            <a:br/>
            <a:r>
              <a:t>git push -u origin 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